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64" r:id="rId3"/>
    <p:sldId id="257" r:id="rId4"/>
    <p:sldId id="259" r:id="rId5"/>
    <p:sldId id="260" r:id="rId6"/>
    <p:sldId id="261" r:id="rId7"/>
    <p:sldId id="262" r:id="rId8"/>
    <p:sldId id="258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1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1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750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80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3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94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31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94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5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28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60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376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1E6647-E06D-988C-DEC7-ABBAFFD1D8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342A96-8262-DD9B-4EC3-A8161C458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IT 420 Business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F3764B-9396-049A-462B-266F15AC7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Connor Gaskill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832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2EF25B-91B4-9043-11FC-56DA00CEE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9126" y="979051"/>
            <a:ext cx="2811879" cy="1807048"/>
          </a:xfrm>
        </p:spPr>
        <p:txBody>
          <a:bodyPr anchor="b">
            <a:normAutofit/>
          </a:bodyPr>
          <a:lstStyle/>
          <a:p>
            <a:r>
              <a:rPr lang="en-US" sz="3600"/>
              <a:t>The Data</a:t>
            </a:r>
            <a:endParaRPr lang="en-US" sz="3600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9E420D-5A71-682C-9812-EBC40DDE6B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95" r="2" b="20098"/>
          <a:stretch>
            <a:fillRect/>
          </a:stretch>
        </p:blipFill>
        <p:spPr>
          <a:xfrm>
            <a:off x="20" y="535709"/>
            <a:ext cx="8229580" cy="582064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D6AF9D9-2D67-B74A-081E-E909CA355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128" y="2922624"/>
            <a:ext cx="2811880" cy="3409950"/>
          </a:xfrm>
        </p:spPr>
        <p:txBody>
          <a:bodyPr anchor="t">
            <a:normAutofit/>
          </a:bodyPr>
          <a:lstStyle/>
          <a:p>
            <a:r>
              <a:rPr lang="en-US" dirty="0"/>
              <a:t>Incomplete,</a:t>
            </a:r>
          </a:p>
          <a:p>
            <a:r>
              <a:rPr lang="en-US" dirty="0"/>
              <a:t>Incompatible</a:t>
            </a:r>
          </a:p>
          <a:p>
            <a:r>
              <a:rPr lang="en-US" dirty="0"/>
              <a:t>Cannot use for analytics</a:t>
            </a:r>
          </a:p>
        </p:txBody>
      </p:sp>
    </p:spTree>
    <p:extLst>
      <p:ext uri="{BB962C8B-B14F-4D97-AF65-F5344CB8AC3E}">
        <p14:creationId xmlns:p14="http://schemas.microsoft.com/office/powerpoint/2010/main" val="1314898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1FB55A-871B-3991-EED2-F72236605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en-US" dirty="0"/>
              <a:t>Process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D4B78199-9044-14A1-49D4-178852468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857499"/>
            <a:ext cx="3125269" cy="31252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5B8BC-230F-39F9-401A-EC9E65FA2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Flat File </a:t>
            </a:r>
            <a:r>
              <a:rPr lang="en-US" dirty="0">
                <a:sym typeface="Wingdings" panose="05000000000000000000" pitchFamily="2" charset="2"/>
              </a:rPr>
              <a:t> ETL with SSIS  Building SQL tables  Inserting data into SQL tables  Generating reports with SSRS and Power BI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110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EA461-90D3-0678-086E-E5EEAACD9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ETL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30032-C1D0-53EB-A337-3905DDB41D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7" r="18197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7420F5E-BE36-1A80-3666-08E6EC49F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/>
            <a:r>
              <a:rPr lang="en-US" b="1" cap="all" spc="300" dirty="0"/>
              <a:t>Extract</a:t>
            </a:r>
          </a:p>
          <a:p>
            <a:pPr marL="0" indent="0"/>
            <a:r>
              <a:rPr lang="en-US" b="1" cap="all" spc="300" dirty="0"/>
              <a:t>Transform</a:t>
            </a:r>
          </a:p>
          <a:p>
            <a:pPr marL="0" indent="0"/>
            <a:r>
              <a:rPr lang="en-US" b="1" cap="all" spc="300" dirty="0"/>
              <a:t>Load</a:t>
            </a:r>
          </a:p>
        </p:txBody>
      </p:sp>
    </p:spTree>
    <p:extLst>
      <p:ext uri="{BB962C8B-B14F-4D97-AF65-F5344CB8AC3E}">
        <p14:creationId xmlns:p14="http://schemas.microsoft.com/office/powerpoint/2010/main" val="293251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22C7A-BCC5-5192-9151-DC21B059A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80" b="19079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09B96-05F9-2927-C37D-3F3D09DB8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892948" cy="342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2786E-B873-4C18-754E-7180D1A39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970" y="5253051"/>
            <a:ext cx="4892948" cy="8129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cap="all" spc="300">
                <a:solidFill>
                  <a:srgbClr val="FFFFFF"/>
                </a:solidFill>
              </a:rPr>
              <a:t>Building tables and relations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864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954409-E610-0B91-73B0-D20465345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00" y="997527"/>
            <a:ext cx="4053018" cy="35050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SSRS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BEAA-C317-2DF2-E15E-0916D076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399" y="4608945"/>
            <a:ext cx="3919961" cy="13346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cap="all" spc="300"/>
              <a:t>Generating reports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C8305E-053D-4D01-DC7F-681F8B0215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29" r="3" b="3"/>
          <a:stretch>
            <a:fillRect/>
          </a:stretch>
        </p:blipFill>
        <p:spPr>
          <a:xfrm>
            <a:off x="5218980" y="672912"/>
            <a:ext cx="6973019" cy="5596128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215128" y="6274446"/>
            <a:ext cx="697687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66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41B76-91BC-FFA8-EF62-6E1459CF7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Power 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CF27A-BEE6-9CD2-35E2-9A28AC11F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4846904"/>
            <a:ext cx="3145535" cy="993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cap="all" spc="300"/>
              <a:t>Generating dashboards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7842FD4-D4A7-4F4D-310D-3E86C8A75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1331024"/>
            <a:ext cx="7086600" cy="414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9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367966-6C83-5D5F-872F-E3A5FB26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904" y="914400"/>
            <a:ext cx="4261104" cy="1097280"/>
          </a:xfrm>
        </p:spPr>
        <p:txBody>
          <a:bodyPr anchor="t">
            <a:normAutofit/>
          </a:bodyPr>
          <a:lstStyle/>
          <a:p>
            <a:r>
              <a:rPr lang="en-US" sz="3600" dirty="0"/>
              <a:t>Findings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F58A42-8BC1-A5C4-526D-143DE9176F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984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9E7916-F197-A633-81E8-B34BA711E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905" y="2176036"/>
            <a:ext cx="4261104" cy="4121887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US" sz="1100" b="1"/>
              <a:t>Very Low Value, Moderate Frequency (10,711 customers)</a:t>
            </a:r>
            <a:r>
              <a:rPr lang="en-US" sz="1100"/>
              <a:t> – A large segment that purchases regularly but at low value, suggesting potential for upselling or bundling.</a:t>
            </a:r>
          </a:p>
          <a:p>
            <a:pPr lvl="0">
              <a:lnSpc>
                <a:spcPct val="110000"/>
              </a:lnSpc>
            </a:pPr>
            <a:r>
              <a:rPr lang="en-US" sz="1100" b="1"/>
              <a:t>Very High Value, Very Low Frequency (358 customers)</a:t>
            </a:r>
            <a:r>
              <a:rPr lang="en-US" sz="1100"/>
              <a:t> – High-value customers with infrequent purchases; targeted engagement could increase repeat business.</a:t>
            </a:r>
          </a:p>
          <a:p>
            <a:pPr lvl="0">
              <a:lnSpc>
                <a:spcPct val="110000"/>
              </a:lnSpc>
            </a:pPr>
            <a:r>
              <a:rPr lang="en-US" sz="1100" b="1"/>
              <a:t>Low Value, Moderate Frequency (3,975 customers)</a:t>
            </a:r>
            <a:r>
              <a:rPr lang="en-US" sz="1100"/>
              <a:t> – Customers with moderate purchasing habits; opportunities exist to increase average spend.</a:t>
            </a:r>
          </a:p>
          <a:p>
            <a:pPr lvl="0">
              <a:lnSpc>
                <a:spcPct val="110000"/>
              </a:lnSpc>
            </a:pPr>
            <a:r>
              <a:rPr lang="en-US" sz="1100" b="1"/>
              <a:t>Moderate Value, Moderate Frequency (2,453 customers)</a:t>
            </a:r>
            <a:r>
              <a:rPr lang="en-US" sz="1100"/>
              <a:t> – Steady contributors to revenue; could be nurtured to move into higher-value segments.</a:t>
            </a:r>
          </a:p>
          <a:p>
            <a:pPr lvl="0">
              <a:lnSpc>
                <a:spcPct val="110000"/>
              </a:lnSpc>
            </a:pPr>
            <a:r>
              <a:rPr lang="en-US" sz="1100" b="1"/>
              <a:t>High Value, Low Frequency (891 customers)</a:t>
            </a:r>
            <a:r>
              <a:rPr lang="en-US" sz="1100"/>
              <a:t> – Valuable but infrequent customers; retention and engagement strategies are recommended.</a:t>
            </a:r>
          </a:p>
          <a:p>
            <a:pPr lvl="0">
              <a:lnSpc>
                <a:spcPct val="110000"/>
              </a:lnSpc>
            </a:pPr>
            <a:r>
              <a:rPr lang="en-US" sz="1100" b="1"/>
              <a:t>Very Low Value, Very High Frequency (36 customers)</a:t>
            </a:r>
            <a:r>
              <a:rPr lang="en-US" sz="1100"/>
              <a:t> – Frequent purchasers with low individual value; potential for promotions or loyalty programs.</a:t>
            </a:r>
          </a:p>
          <a:p>
            <a:pPr>
              <a:lnSpc>
                <a:spcPct val="110000"/>
              </a:lnSpc>
            </a:pP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802543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A4DC414B-C8BC-75C2-9B26-A8914E451C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5E35B-40C7-4634-4576-A916908CC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892948" cy="342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857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207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Grandview Display</vt:lpstr>
      <vt:lpstr>Wingdings</vt:lpstr>
      <vt:lpstr>DashVTI</vt:lpstr>
      <vt:lpstr>IT 420 Business Intelligence</vt:lpstr>
      <vt:lpstr>The Data</vt:lpstr>
      <vt:lpstr>Process</vt:lpstr>
      <vt:lpstr>ETL</vt:lpstr>
      <vt:lpstr>SSMS</vt:lpstr>
      <vt:lpstr>SSRS</vt:lpstr>
      <vt:lpstr>Power BI</vt:lpstr>
      <vt:lpstr>Findings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Connor Gaskill</dc:creator>
  <cp:lastModifiedBy>Connor Gaskill</cp:lastModifiedBy>
  <cp:revision>2</cp:revision>
  <dcterms:created xsi:type="dcterms:W3CDTF">2025-12-06T22:11:00Z</dcterms:created>
  <dcterms:modified xsi:type="dcterms:W3CDTF">2025-12-08T04:20:49Z</dcterms:modified>
</cp:coreProperties>
</file>